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4F46E5"/>
                </a:solidFill>
                <a:latin typeface="Calibri"/>
              </a:defRPr>
            </a:pPr>
            <a:r>
              <a:rPr dirty="0"/>
              <a:t>Slide 1: </a:t>
            </a:r>
            <a:r>
              <a:rPr dirty="0" err="1"/>
              <a:t>Pendahuluan</a:t>
            </a:r>
            <a:br>
              <a:rPr dirty="0"/>
            </a:b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Pengunjung</a:t>
            </a:r>
            <a:r>
              <a:rPr dirty="0"/>
              <a:t> Platform Jasa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Latar</a:t>
            </a:r>
            <a:r>
              <a:rPr dirty="0"/>
              <a:t> </a:t>
            </a:r>
            <a:r>
              <a:rPr dirty="0" err="1"/>
              <a:t>Belakang</a:t>
            </a:r>
            <a:r>
              <a:rPr dirty="0"/>
              <a:t> &amp; </a:t>
            </a:r>
            <a:r>
              <a:rPr dirty="0" err="1"/>
              <a:t>Urgensi</a:t>
            </a:r>
            <a:r>
              <a:rPr dirty="0"/>
              <a:t> Data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preferensi</a:t>
            </a:r>
            <a:r>
              <a:rPr dirty="0"/>
              <a:t> dan </a:t>
            </a:r>
            <a:r>
              <a:rPr dirty="0" err="1"/>
              <a:t>ketertarikan</a:t>
            </a:r>
            <a:r>
              <a:rPr dirty="0"/>
              <a:t> </a:t>
            </a:r>
            <a:r>
              <a:rPr dirty="0" err="1"/>
              <a:t>calon</a:t>
            </a:r>
            <a:r>
              <a:rPr dirty="0"/>
              <a:t> </a:t>
            </a:r>
            <a:r>
              <a:rPr dirty="0" err="1"/>
              <a:t>klien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objektif</a:t>
            </a:r>
            <a:r>
              <a:rPr dirty="0"/>
              <a:t>.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Peran Google Analytics 4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Perekaman</a:t>
            </a:r>
            <a:r>
              <a:rPr dirty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real-time dan </a:t>
            </a:r>
            <a:r>
              <a:rPr dirty="0" err="1"/>
              <a:t>terstruktur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event.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Implementasi</a:t>
            </a:r>
            <a:endParaRPr dirty="0"/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Mengukur</a:t>
            </a:r>
            <a:r>
              <a:rPr dirty="0"/>
              <a:t> </a:t>
            </a:r>
            <a:r>
              <a:rPr dirty="0" err="1"/>
              <a:t>rasio</a:t>
            </a:r>
            <a:r>
              <a:rPr dirty="0"/>
              <a:t> </a:t>
            </a:r>
            <a:r>
              <a:rPr dirty="0" err="1"/>
              <a:t>konversi</a:t>
            </a:r>
            <a:r>
              <a:rPr dirty="0"/>
              <a:t> </a:t>
            </a:r>
            <a:r>
              <a:rPr dirty="0" err="1"/>
              <a:t>paket</a:t>
            </a:r>
            <a:r>
              <a:rPr dirty="0"/>
              <a:t> </a:t>
            </a:r>
            <a:r>
              <a:rPr dirty="0" err="1"/>
              <a:t>pesanan</a:t>
            </a:r>
            <a:r>
              <a:rPr dirty="0"/>
              <a:t>.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Meminimalisir</a:t>
            </a:r>
            <a:r>
              <a:rPr dirty="0"/>
              <a:t> </a:t>
            </a:r>
            <a:r>
              <a:rPr dirty="0" err="1"/>
              <a:t>persentase</a:t>
            </a:r>
            <a:r>
              <a:rPr dirty="0"/>
              <a:t> </a:t>
            </a:r>
            <a:r>
              <a:rPr dirty="0" err="1"/>
              <a:t>pembatalan</a:t>
            </a:r>
            <a:r>
              <a:rPr dirty="0"/>
              <a:t> (Cart Abandonment).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  • Dasar </a:t>
            </a:r>
            <a:r>
              <a:rPr dirty="0" err="1"/>
              <a:t>pengambilan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pengembangan</a:t>
            </a:r>
            <a:r>
              <a:rPr dirty="0"/>
              <a:t> (Data-Driven).</a:t>
            </a:r>
          </a:p>
        </p:txBody>
      </p:sp>
      <p:pic>
        <p:nvPicPr>
          <p:cNvPr id="5" name="Picture 4" descr="ecommerce_tracking_concept_1780839902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4F46E5"/>
                </a:solidFill>
                <a:latin typeface="Calibri"/>
              </a:defRPr>
            </a:pPr>
            <a:r>
              <a:rPr dirty="0"/>
              <a:t>Slide 2: </a:t>
            </a:r>
            <a:r>
              <a:rPr dirty="0" err="1"/>
              <a:t>Pengenalan</a:t>
            </a:r>
            <a:r>
              <a:rPr dirty="0"/>
              <a:t> Google Analytics</a:t>
            </a:r>
            <a:br>
              <a:rPr dirty="0"/>
            </a:br>
            <a:r>
              <a:rPr dirty="0"/>
              <a:t>Dasar </a:t>
            </a:r>
            <a:r>
              <a:rPr dirty="0" err="1"/>
              <a:t>Teori</a:t>
            </a:r>
            <a:r>
              <a:rPr dirty="0"/>
              <a:t> &amp; </a:t>
            </a:r>
            <a:r>
              <a:rPr dirty="0" err="1"/>
              <a:t>Mekanisme</a:t>
            </a:r>
            <a:r>
              <a:rPr dirty="0"/>
              <a:t>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Definisi Google Analytics 4 (GA4)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t>  • Platform pelacakan web berbasis event untuk merekam aktivitas user.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Mekanisme Kerja Sistem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t>  • Integrasi script gtag.js global di dalam tag &lt;head&gt;.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t>  • Data interaksi ditransmisikan asinkron ke server Google Analytics.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Fitur Utama Pelacakan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t>  • E-Commerce Tracking, Traffic Source, Real-time Reports, Demografi.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Manfaat Pengelolaan Website</a:t>
            </a:r>
          </a:p>
          <a:p>
            <a:pPr lvl="1">
              <a:defRPr sz="1400">
                <a:solidFill>
                  <a:srgbClr val="0F172A"/>
                </a:solidFill>
                <a:latin typeface="Calibri"/>
              </a:defRPr>
            </a:pPr>
            <a:r>
              <a:t>  • Deteksi halaman bermasalah (Bounce Rate tinggi) &amp; optimalisasi pemasaran.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4F46E5"/>
                </a:solidFill>
                <a:latin typeface="Calibri"/>
              </a:defRPr>
            </a:pPr>
            <a:r>
              <a:t>Slide 3: Implementasi GA4 pada Sistem</a:t>
            </a:r>
            <a:br/>
            <a:r>
              <a:t>Integrasi Laravel &amp; Pemetaan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Integrasi Global (Measurement ID: G-5TCTDT8KM1)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Pemasangan tag pelacak pada berkas app.blade.php secara terpusat.</a:t>
            </a:r>
          </a:p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Funneling Event E-Commerce yang Diterapkan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view_item_list &amp; select_item: Katalog paket (packages.blade.php).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begin_checkout: Halaman rincian checkout (checkout.blade.php).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purchase: Konfirmasi pembayaran lunas (my-orders.blade.php).</a:t>
            </a:r>
          </a:p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Inovasi: Session Flash Tracking Laravel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Enkapsulasi data purchase di server sesaat setelah upload bukti transfer.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Mencegah duplikasi data tracking akibat page-refresh di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4F46E5"/>
                </a:solidFill>
                <a:latin typeface="Calibri"/>
              </a:defRPr>
            </a:pPr>
            <a:r>
              <a:t>Slide 4: Analisis &amp; Manfaat Data</a:t>
            </a:r>
            <a:br/>
            <a:r>
              <a:t>Optimasi &amp; Pengambilan Keputusan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Metrik Kunci yang Dipantau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Users, Sessions, Page Views, Traffic Source, Device, Engagement.</a:t>
            </a:r>
          </a:p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Analisis Conversion Funnel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Menghitung persentase user drop-off di setiap halaman pesanan.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Menemukan Cart Abandonment Rate (Checkout vs Purchase).</a:t>
            </a:r>
          </a:p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Dampak Pengembangan &amp; Keputusan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Optimasi UI/UX halaman pembayaran yang membingungkan.</a:t>
            </a:r>
          </a:p>
          <a:p>
            <a:pPr lvl="1">
              <a:defRPr sz="1300">
                <a:solidFill>
                  <a:srgbClr val="0F172A"/>
                </a:solidFill>
                <a:latin typeface="Calibri"/>
              </a:defRPr>
            </a:pPr>
            <a:r>
              <a:t>  • Fokus promosi pada saluran akuisisi terbaik yang menghasilkan konversi.</a:t>
            </a:r>
          </a:p>
        </p:txBody>
      </p:sp>
      <p:pic>
        <p:nvPicPr>
          <p:cNvPr id="5" name="Picture 4" descr="visitor_analytics_dashboard_1780839888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368</Words>
  <Application>Microsoft Office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reyon</cp:lastModifiedBy>
  <cp:revision>3</cp:revision>
  <dcterms:created xsi:type="dcterms:W3CDTF">2013-01-27T09:14:16Z</dcterms:created>
  <dcterms:modified xsi:type="dcterms:W3CDTF">2026-06-07T14:02:51Z</dcterms:modified>
  <cp:category/>
</cp:coreProperties>
</file>